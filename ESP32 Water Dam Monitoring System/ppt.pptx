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JetBrains Mono"/>
      <ns0:bold ns1:id="rIdFont20"/>
      <ns0:regular ns1:id="rIdFont21"/>
    </ns0:embeddedFont>
    <ns0:embeddedFont>
      <ns0:font typeface="Space Grotesk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533d82fd-2735-4bce-bc00-09fcc8068cb0.fntdata" /><ns0:Relationship Id="rIdFont21" Type="http://schemas.openxmlformats.org/officeDocument/2006/relationships/font" Target="fonts/bef7f06e-aade-4814-ab3a-59dd49589066.fntdata" /><ns0:Relationship Id="rIdFont22" Type="http://schemas.openxmlformats.org/officeDocument/2006/relationships/font" Target="fonts/66c8fe04-b996-4485-93b7-fc8118c2627b.fntdata" /><ns0:Relationship Id="rIdFont23" Type="http://schemas.openxmlformats.org/officeDocument/2006/relationships/font" Target="fonts/f94e2650-91a8-4119-a01c-4c4b7155ed6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74257"/>
            <a:ext cx="685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780" y="952500"/>
            <a:ext cx="4404419" cy="495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780" y="952500"/>
            <a:ext cx="4404419" cy="495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045642"/>
            <a:ext cx="74484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EMBEDDED IOT &amp; TELEMETRY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7592"/>
            <a:ext cx="6356731" cy="1109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68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ESP32 Smart Water Dam Monitoring &amp;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26507"/>
            <a:ext cx="561975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Space Grotesk"/>
              </a:rPr>
              <a:t>Dual-sensor flood interlock, GSM SMS gate automation, EEPROM storage, and real-time voice-enabled web dashboard.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00262"/>
            <a:ext cx="5324475" cy="3648075"/>
          </a:xfrm>
          <a:prstGeom prst="roundRect">
            <a:avLst>
              <a:gd name="adj" fmla="val 41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76975" y="2109787"/>
            <a:ext cx="5305425" cy="3629025"/>
          </a:xfrm>
          <a:prstGeom prst="roundRect">
            <a:avLst>
              <a:gd name="adj" fmla="val 419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466975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5" y="2466975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01 / PROJECT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Why Dual-Sensor Dam Automation?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2075" y="2452687"/>
            <a:ext cx="287535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Single-Sensor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976562"/>
            <a:ext cx="47148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Space Grotesk"/>
              </a:rPr>
              <a:t>False Echoes:</a:t>
            </a:r>
            <a:r>
              <a:rPr b="0" sz="1425" i="0" u="none">
                <a:solidFill>
                  <a:srgbClr val="334155"/>
                </a:solidFill>
                <a:latin typeface="Space Grotesk"/>
              </a:rPr>
              <a:t> Floating debris distorts ultrasonic readings.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624262"/>
            <a:ext cx="47148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Space Grotesk"/>
              </a:rPr>
              <a:t>Switch Tampering:</a:t>
            </a:r>
            <a:r>
              <a:rPr b="0" sz="1425" i="0" u="none">
                <a:solidFill>
                  <a:srgbClr val="334155"/>
                </a:solidFill>
                <a:latin typeface="Space Grotesk"/>
              </a:rPr>
              <a:t> Accidental float movement triggers panic.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271962"/>
            <a:ext cx="47148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Space Grotesk"/>
              </a:rPr>
              <a:t>SMS Flooding:</a:t>
            </a:r>
            <a:r>
              <a:rPr b="0" sz="1425" i="0" u="none">
                <a:solidFill>
                  <a:srgbClr val="334155"/>
                </a:solidFill>
                <a:latin typeface="Space Grotesk"/>
              </a:rPr>
              <a:t> Unlatched code spams hundreds of alerts.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919662"/>
            <a:ext cx="47148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Space Grotesk"/>
              </a:rPr>
              <a:t>Power Loss Reset:</a:t>
            </a:r>
            <a:r>
              <a:rPr b="0" sz="1425" i="0" u="none">
                <a:solidFill>
                  <a:srgbClr val="334155"/>
                </a:solidFill>
                <a:latin typeface="Space Grotesk"/>
              </a:rPr>
              <a:t> Volatile RAM loses saved phone numbers.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9925" y="2452687"/>
            <a:ext cx="342542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Space Grotesk"/>
              </a:rPr>
              <a:t>Our ESP32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9875" y="2976562"/>
            <a:ext cx="47148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E2E8F0"/>
                </a:solidFill>
                <a:latin typeface="Space Grotesk"/>
              </a:rPr>
              <a:t>AND-Gate Interlock:</a:t>
            </a:r>
            <a:r>
              <a:rPr b="0" sz="1425" i="0" u="none">
                <a:solidFill>
                  <a:srgbClr val="E2E8F0"/>
                </a:solidFill>
                <a:latin typeface="Space Grotesk"/>
              </a:rPr>
              <a:t> Requires both sensors to confirm flood.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3624262"/>
            <a:ext cx="47148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E2E8F0"/>
                </a:solidFill>
                <a:latin typeface="Space Grotesk"/>
              </a:rPr>
              <a:t>Single-Shot SMS Lock:</a:t>
            </a:r>
            <a:r>
              <a:rPr b="0" sz="1425" i="0" u="none">
                <a:solidFill>
                  <a:srgbClr val="E2E8F0"/>
                </a:solidFill>
                <a:latin typeface="Space Grotesk"/>
              </a:rPr>
              <a:t> Dispatches exactly one SMS per event.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9875" y="4271962"/>
            <a:ext cx="47148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E2E8F0"/>
                </a:solidFill>
                <a:latin typeface="Space Grotesk"/>
              </a:rPr>
              <a:t>Two-Way Gate Control:</a:t>
            </a:r>
            <a:r>
              <a:rPr b="0" sz="1425" i="0" u="none">
                <a:solidFill>
                  <a:srgbClr val="E2E8F0"/>
                </a:solidFill>
                <a:latin typeface="Space Grotesk"/>
              </a:rPr>
              <a:t> Open or close relay via SMS or GUI.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4919662"/>
            <a:ext cx="47148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E2E8F0"/>
                </a:solidFill>
                <a:latin typeface="Space Grotesk"/>
              </a:rPr>
              <a:t>Flash EEPROM Storage:</a:t>
            </a:r>
            <a:r>
              <a:rPr b="0" sz="1425" i="0" u="none">
                <a:solidFill>
                  <a:srgbClr val="E2E8F0"/>
                </a:solidFill>
                <a:latin typeface="Space Grotesk"/>
              </a:rPr>
              <a:t> Retains settings across power cycles.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50309" y="1938337"/>
            <a:ext cx="5532090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50309" y="3319462"/>
            <a:ext cx="5532090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50309" y="4700587"/>
            <a:ext cx="5532090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09750"/>
            <a:ext cx="4983509" cy="419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38350"/>
            <a:ext cx="4526309" cy="3733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02 / HARDWARE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Central ESP32 Processing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7959" y="2147887"/>
            <a:ext cx="589404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284C7"/>
                </a:solidFill>
                <a:latin typeface="Space Grotesk"/>
              </a:rPr>
              <a:t>1. Dual Input Sensing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7959" y="2462212"/>
            <a:ext cx="513204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pace Grotesk"/>
              </a:rPr>
              <a:t>HC-SR04 Ultrasonic measures continuous height; side Float Switch detects high-water contact.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7959" y="3529012"/>
            <a:ext cx="589404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284C7"/>
                </a:solidFill>
                <a:latin typeface="Space Grotesk"/>
              </a:rPr>
              <a:t>2. Local &amp; Cellular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7959" y="3843337"/>
            <a:ext cx="513204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pace Grotesk"/>
              </a:rPr>
              <a:t>2.4GHz Wi-Fi hosts the Web GUI on mobile hotspot; UART2 drives SIM800L GSM module.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7959" y="4910137"/>
            <a:ext cx="589404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284C7"/>
                </a:solidFill>
                <a:latin typeface="Space Grotesk"/>
              </a:rPr>
              <a:t>3. Physical Actuation &amp; Display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7959" y="5224462"/>
            <a:ext cx="513204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pace Grotesk"/>
              </a:rPr>
              <a:t>16x2 I2C LCD displays real-time telemetry; GPIO 33 Relay operates the spillway gate.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28825"/>
            <a:ext cx="10972800" cy="37528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028825"/>
          <a:ext cx="10972798" cy="37528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37209"/>
                <a:gridCol w="2143571"/>
                <a:gridCol w="2300138"/>
                <a:gridCol w="4091880"/>
              </a:tblGrid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Hardware 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Signal Pin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ESP32 GPIO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Electrical Configuration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HC-SR04 Ultrasonic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TRIG / ECHO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JetBrains Mono"/>
                        </a:rPr>
                        <a:t>GPIO 26 / GPIO 27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10us pulse trigger; 30ms echo timeout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Side Float Sensor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2-Wire Reed Switch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JetBrains Mono"/>
                        </a:rPr>
                        <a:t>GPIO 25 &amp; GND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INPUT_PULLUP (Active HIGH when floating)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Spillway Gate Relay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IN Control Pin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JetBrains Mono"/>
                        </a:rPr>
                        <a:t>GPIO 33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Optocoupler Active-LOW output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Alert Piezo Buzzer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Positive (+)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JetBrains Mono"/>
                        </a:rPr>
                        <a:t>GPIO 14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250ms non-blocking pulse timer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SIM800L / GSM 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TXD / RXD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JetBrains Mono"/>
                        </a:rPr>
                        <a:t>GPIO 16 / GPIO 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Hardware UART2 at 9600 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124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16x2 I2C LCD Display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SDA / SCL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JetBrains Mono"/>
                        </a:rPr>
                        <a:t>GPIO 21 / GPIO 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I2C Address 0x27 (5V VCC)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03 / WIRING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ESP32 Hardware Pinout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09" y="1905000"/>
            <a:ext cx="4731990" cy="400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53667"/>
            <a:ext cx="5783609" cy="7599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42184"/>
            <a:ext cx="5783609" cy="81944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009" y="2133600"/>
            <a:ext cx="4274790" cy="3543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391792"/>
            <a:ext cx="1182290" cy="28366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370784"/>
            <a:ext cx="2408932" cy="3622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04 / WATER LEVEL SENSING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Ultrasonic Distance-to-Percentage Math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182117"/>
            <a:ext cx="5878859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Space Grotesk"/>
              </a:rPr>
              <a:t>Mounted at the top of the dam, the HC-SR04 emits a 40 kHz acoustic pulse and measures time-of-flight to the water surface: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190232"/>
            <a:ext cx="587885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Space Grotesk"/>
              </a:rPr>
              <a:t>Total dam depth (</a:t>
            </a:r>
            <a:r>
              <a:rPr b="1" sz="1350" i="0" u="none">
                <a:solidFill>
                  <a:srgbClr val="0F172A"/>
                </a:solidFill>
                <a:latin typeface="Space Grotesk"/>
              </a:rPr>
              <a:t>H_dam</a:t>
            </a:r>
            <a:r>
              <a:rPr b="0" sz="1350" i="0" u="none">
                <a:solidFill>
                  <a:srgbClr val="64748B"/>
                </a:solidFill>
                <a:latin typeface="Space Grotesk"/>
              </a:rPr>
              <a:t>) is user-configurable via the Web GUI and stored in EEPROM.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2576512" cy="1876425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14712" y="2947987"/>
            <a:ext cx="2576512" cy="1876425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9825" y="2947987"/>
            <a:ext cx="2576512" cy="1876425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24937" y="2957512"/>
            <a:ext cx="2557462" cy="1857375"/>
          </a:xfrm>
          <a:prstGeom prst="roundRect">
            <a:avLst>
              <a:gd name="adj" fmla="val 717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623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837" y="3262312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3262312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537" y="3262312"/>
            <a:ext cx="2667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05 / CORE SAFETY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Dual-Sensor Interlock Truth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719512"/>
            <a:ext cx="275659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Space Grotesk"/>
              </a:rPr>
              <a:t>1. Normal Safe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71937"/>
            <a:ext cx="21955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Level below 80% threshold.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2837" y="3719512"/>
            <a:ext cx="275659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Space Grotesk"/>
              </a:rPr>
              <a:t>2. False Float 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2837" y="4071937"/>
            <a:ext cx="21955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Float HIGH ignored below threshold.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3719512"/>
            <a:ext cx="275659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Space Grotesk"/>
              </a:rPr>
              <a:t>3. Pre-Alert Standby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950" y="4071937"/>
            <a:ext cx="21955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Level above 80% awaiting float.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537" y="3719512"/>
            <a:ext cx="275659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FFFFFF"/>
                </a:solidFill>
                <a:latin typeface="Space Grotesk"/>
              </a:rPr>
              <a:t>4. Confirmed 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537" y="4071937"/>
            <a:ext cx="21955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Space Grotesk"/>
              </a:rPr>
              <a:t>Both active triggers full alarm.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66900"/>
            <a:ext cx="10972800" cy="885825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43225"/>
            <a:ext cx="10972800" cy="885825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19550"/>
            <a:ext cx="10972800" cy="885825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095875"/>
            <a:ext cx="10972800" cy="885825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06 / FIRMWARE EXECUTION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500ms Non-Blocking Control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162175"/>
            <a:ext cx="12192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JetBrains Mono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38500"/>
            <a:ext cx="12192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JetBrains Mono"/>
              </a:rPr>
              <a:t>STEP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314825"/>
            <a:ext cx="12192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JetBrains Mono"/>
              </a:rPr>
              <a:t>STEP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391150"/>
            <a:ext cx="12192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JetBrains Mono"/>
              </a:rPr>
              <a:t>STEP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8350" y="2057400"/>
            <a:ext cx="878859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Boot &amp; Restore EEPROM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8350" y="2343150"/>
            <a:ext cx="8370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Loads saved phone number, dam depth, warning threshold, and relay gate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8350" y="3133725"/>
            <a:ext cx="741342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Sample Ultrasonic &amp; Side Float Switch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8350" y="3419475"/>
            <a:ext cx="70604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Computes fill percentage and checks if GPIO 25 reed switch is HIGH.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8350" y="4210050"/>
            <a:ext cx="88261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Evaluate Dual-Confirmation Interlock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8350" y="4495800"/>
            <a:ext cx="8405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When Level &gt;= Threshold AND Float == HIGH, dispatches 1 SMS and pulses buzzer.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8350" y="5286375"/>
            <a:ext cx="92886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Refresh 16x2 LCD &amp; Serve Web GUI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8350" y="5572125"/>
            <a:ext cx="8846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Streams live telemetry to browser every second and listens for SMS gate commands.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472" y="1905000"/>
            <a:ext cx="4993927" cy="400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597" y="2143125"/>
            <a:ext cx="4517677" cy="3524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07 / CELLULAR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Two-Way GSM SMS Alert &amp; Relay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8900"/>
            <a:ext cx="5616922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Signal Monitoring:</a:t>
            </a:r>
            <a:r>
              <a:rPr b="0" sz="1500" i="0" u="none">
                <a:solidFill>
                  <a:srgbClr val="1E293B"/>
                </a:solidFill>
                <a:latin typeface="Space Grotesk"/>
              </a:rPr>
              <a:t> Polls </a:t>
            </a:r>
            <a:r>
              <a:rPr b="0" sz="1500" i="0" u="none">
                <a:solidFill>
                  <a:srgbClr val="0284C7"/>
                </a:solidFill>
                <a:latin typeface="Space Grotesk"/>
              </a:rPr>
              <a:t>AT+CSQ</a:t>
            </a:r>
            <a:r>
              <a:rPr b="0" sz="1500" i="0" u="none">
                <a:solidFill>
                  <a:srgbClr val="1E293B"/>
                </a:solidFill>
                <a:latin typeface="Space Grotesk"/>
              </a:rPr>
              <a:t> every 10s and maps RSSI (0–31) to 0–100%.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14700"/>
            <a:ext cx="5616922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Single-Shot Alert:</a:t>
            </a:r>
            <a:r>
              <a:rPr b="0" sz="1500" i="0" u="none">
                <a:solidFill>
                  <a:srgbClr val="1E293B"/>
                </a:solidFill>
                <a:latin typeface="Space Grotesk"/>
              </a:rPr>
              <a:t> Sends one emergency SMS to the EEPROM-saved mobile number upon confirmed flood.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00500"/>
            <a:ext cx="5616922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Remote Gate Open:</a:t>
            </a:r>
            <a:r>
              <a:rPr b="0" sz="1500" i="0" u="none">
                <a:solidFill>
                  <a:srgbClr val="1E293B"/>
                </a:solidFill>
                <a:latin typeface="Space Grotesk"/>
              </a:rPr>
              <a:t> Texting </a:t>
            </a:r>
            <a:r>
              <a:rPr b="0" sz="1500" i="0" u="none">
                <a:solidFill>
                  <a:srgbClr val="0F172A"/>
                </a:solidFill>
                <a:latin typeface="Space Grotesk"/>
              </a:rPr>
              <a:t>GATE ON</a:t>
            </a:r>
            <a:r>
              <a:rPr b="0" sz="1500" i="0" u="none">
                <a:solidFill>
                  <a:srgbClr val="1E293B"/>
                </a:solidFill>
                <a:latin typeface="Space Grotesk"/>
              </a:rPr>
              <a:t> energizes GPIO 33 relay and replies with confirmation.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686300"/>
            <a:ext cx="5616922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Remote Gate Close:</a:t>
            </a:r>
            <a:r>
              <a:rPr b="0" sz="1500" i="0" u="none">
                <a:solidFill>
                  <a:srgbClr val="1E293B"/>
                </a:solidFill>
                <a:latin typeface="Space Grotesk"/>
              </a:rPr>
              <a:t> Texting </a:t>
            </a:r>
            <a:r>
              <a:rPr b="0" sz="1500" i="0" u="none">
                <a:solidFill>
                  <a:srgbClr val="EF4444"/>
                </a:solidFill>
                <a:latin typeface="Space Grotesk"/>
              </a:rPr>
              <a:t>GATE OFF</a:t>
            </a:r>
            <a:r>
              <a:rPr b="0" sz="1500" i="0" u="none">
                <a:solidFill>
                  <a:srgbClr val="1E293B"/>
                </a:solidFill>
                <a:latin typeface="Space Grotesk"/>
              </a:rPr>
              <a:t> closes the spillway gate remotely.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43075"/>
            <a:ext cx="5353050" cy="1695450"/>
          </a:xfrm>
          <a:prstGeom prst="roundRect">
            <a:avLst>
              <a:gd name="adj" fmla="val 78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1743075"/>
            <a:ext cx="5353050" cy="1695450"/>
          </a:xfrm>
          <a:prstGeom prst="roundRect">
            <a:avLst>
              <a:gd name="adj" fmla="val 78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71975"/>
            <a:ext cx="5353050" cy="1695450"/>
          </a:xfrm>
          <a:prstGeom prst="roundRect">
            <a:avLst>
              <a:gd name="adj" fmla="val 78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29350" y="4371975"/>
            <a:ext cx="5353050" cy="1695450"/>
          </a:xfrm>
          <a:prstGeom prst="roundRect">
            <a:avLst>
              <a:gd name="adj" fmla="val 78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009775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0" y="2009775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638675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50" y="4638675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08 / INTERACTIVE WEB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Hotspot GUI &amp; Smooth Ladies Voice Announcer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390775"/>
            <a:ext cx="632579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Animated Dam Cross-Section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733675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Visualizes rising reservoir water, ultrasonic beam, side float state, and spillway 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2390775"/>
            <a:ext cx="56959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Smooth Female Speech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2733675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Selects Indian/UK female voice at 100% volume, 0.92x smooth rate, and 1.12 pitch.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5019675"/>
            <a:ext cx="632579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Dual-Tone Siren Pre-Chime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362575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Plays an 880Hz–1174Hz Web Audio chime before every spoken emergency announcement.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6050" y="5019675"/>
            <a:ext cx="56959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Instant Gate &amp; EEPROM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6050" y="5362575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One-tap OPEN/CLOSE relay buttons and live form to update saved SMS phone number.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81362"/>
            <a:ext cx="3486150" cy="1247775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2450" y="3162300"/>
            <a:ext cx="3486150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15300" y="3171825"/>
            <a:ext cx="3467100" cy="1466850"/>
          </a:xfrm>
          <a:prstGeom prst="roundRect">
            <a:avLst>
              <a:gd name="adj" fmla="val 90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09 / DATA PERSISTENCE &amp; LOCAL DISPLAY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Flash EEPROM Storage &amp; 16x2 LCD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5687"/>
            <a:ext cx="37504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Saved Phone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976687"/>
            <a:ext cx="3571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Space Grotesk"/>
              </a:rPr>
              <a:t>Stored under NVS key </a:t>
            </a:r>
            <a:r>
              <a:rPr b="0" sz="1425" i="0" u="none">
                <a:solidFill>
                  <a:srgbClr val="334155"/>
                </a:solidFill>
                <a:latin typeface="Space Grotesk"/>
              </a:rPr>
              <a:t>"phone"</a:t>
            </a:r>
            <a:r>
              <a:rPr b="0" sz="1425" i="0" u="none">
                <a:solidFill>
                  <a:srgbClr val="334155"/>
                </a:solidFill>
                <a:latin typeface="Space Grotesk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476625"/>
            <a:ext cx="37504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Depth &amp;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3857625"/>
            <a:ext cx="2952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Space Grotesk"/>
              </a:rPr>
              <a:t>Retains custom tank calibration after reboot.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476625"/>
            <a:ext cx="37504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16x2 I2C LCD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0100" y="3857625"/>
            <a:ext cx="2952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0B981"/>
                </a:solidFill>
                <a:latin typeface="JetBrains Mono"/>
              </a:rPr>
              <a:t>Lvl: 84% Sig:77%</a:t>
            </a:r>
            <a:r>
              <a:t>
</a:t>
            </a:r>
            <a:r>
              <a:rPr b="0" sz="1425" i="0" u="none">
                <a:solidFill>
                  <a:srgbClr val="10B981"/>
                </a:solidFill>
                <a:latin typeface="JetBrains Mono"/>
              </a:rPr>
              <a:t> Flt:HI Gate:OPEN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10 / SYSTEM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Real-Time Operational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9112" y="3338512"/>
            <a:ext cx="2726531" cy="781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284C7"/>
                </a:solidFill>
                <a:latin typeface="Space Grotesk"/>
              </a:rPr>
              <a:t>500ms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9112" y="4233862"/>
            <a:ext cx="27265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425" i="0" u="none">
                <a:solidFill>
                  <a:srgbClr val="475569"/>
                </a:solidFill>
                <a:latin typeface="Space Grotesk"/>
              </a:rPr>
              <a:t>Sensor Sampling Interval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6803" y="3338512"/>
            <a:ext cx="3405187" cy="781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Space Grotesk"/>
              </a:rPr>
              <a:t>2x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6803" y="4233862"/>
            <a:ext cx="34051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425" i="0" u="none">
                <a:solidFill>
                  <a:srgbClr val="475569"/>
                </a:solidFill>
                <a:latin typeface="Space Grotesk"/>
              </a:rPr>
              <a:t>Fault-Tolerant Sensor Interlock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5290" y="3338512"/>
            <a:ext cx="2905125" cy="781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Space Grotesk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5290" y="4233862"/>
            <a:ext cx="29051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425" i="0" u="none">
                <a:solidFill>
                  <a:srgbClr val="475569"/>
                </a:solidFill>
                <a:latin typeface="Space Grotesk"/>
              </a:rPr>
              <a:t>EEPROM Setting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8484" y="3338512"/>
            <a:ext cx="2857500" cy="781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Space Grotesk"/>
              </a:rPr>
              <a:t>1s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8484" y="4233862"/>
            <a:ext cx="2857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425" i="0" u="none">
                <a:solidFill>
                  <a:srgbClr val="475569"/>
                </a:solidFill>
                <a:latin typeface="Space Grotesk"/>
              </a:rPr>
              <a:t>Web GUI Live Refresh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405312"/>
            <a:ext cx="7620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5984" y="2414587"/>
            <a:ext cx="4060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JetBrains Mono"/>
              </a:rPr>
              <a:t>PROJECT DEMONSTRATION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0540" y="2757487"/>
            <a:ext cx="7350918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FFFFF"/>
                </a:solidFill>
                <a:latin typeface="Space Grotesk"/>
              </a:rPr>
              <a:t>Thank You &amp;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05212"/>
            <a:ext cx="7620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Space Grotesk"/>
              </a:rPr>
              <a:t>ESP32 Dual-Sensor Dam Monitoring with GSM SMS Automation, Flash EEPROM Persistence, and Voice-Enabled Web GUI.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38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098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171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171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52700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7185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Space Grotesk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042987"/>
            <a:ext cx="64174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Space Grotesk"/>
              </a:rPr>
              <a:t>https://d1ldvf68ux039x.cloudfront.net/thumbs/photos/2501/8838433/1000w_q95.jpg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252537"/>
            <a:ext cx="2464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Space Grotesk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Space Grotesk"/>
              </a:rPr>
              <a:t>www.dvidshub.net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814512"/>
            <a:ext cx="10525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Space Grotesk"/>
              </a:rPr>
              <a:t>https://images.unsplash.com/photo-1649559295229-961cbad5d13f?fm=jpg&amp;q=60&amp;w=3000&amp;auto=format&amp;fit=crop&amp;ixlib=rb-4.1.0&amp;ixid=NHwxMjA3fDA%3D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024062"/>
            <a:ext cx="2024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Space Grotesk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Space Grotesk"/>
              </a:rPr>
              <a:t>unsplash.com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586037"/>
            <a:ext cx="10525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Space Grotesk"/>
              </a:rPr>
              <a:t>https://www.sparkfun.com/media/catalog/product/cache/f8158826193ba5faa8b862a9bd1eb9e9/1/5/15569-Ultrasonic_Distance_Sensor_-_HC-SR04-01a.jpg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795587"/>
            <a:ext cx="2536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Space Grotesk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Space Grotesk"/>
              </a:rPr>
              <a:t>www.sparkfun.com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324225"/>
            <a:ext cx="100488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Space Grotesk"/>
              </a:rPr>
              <a:t>https://probots.co.in/pub/media/catalog/product/cache/d8ddd0f9b0cd008b57085cd218b48832/s/i/sim800l_v2.0_5v_wireless_gsm_gprs_module_quad-band_with_antenna_5_.jpg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695700"/>
            <a:ext cx="197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Space Grotesk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Space Grotesk"/>
              </a:rPr>
              <a:t>probots.co.in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